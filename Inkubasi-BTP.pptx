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Hoves" charset="1" panose="02000003020000060003"/>
      <p:regular r:id="rId16"/>
    </p:embeddedFont>
    <p:embeddedFont>
      <p:font typeface="TT Hoves Bold" charset="1" panose="02000003020000060003"/>
      <p:regular r:id="rId17"/>
    </p:embeddedFont>
    <p:embeddedFont>
      <p:font typeface="Arial MT Pro" charset="1" panose="020B0502020202020204"/>
      <p:regular r:id="rId18"/>
    </p:embeddedFont>
    <p:embeddedFont>
      <p:font typeface="Arial MT Pro Bold" charset="1" panose="020B0802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152776" y="1234440"/>
            <a:ext cx="1337947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428985" y="9019223"/>
            <a:ext cx="922805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3761622"/>
            <a:ext cx="14731623" cy="3039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42"/>
              </a:lnSpc>
            </a:pPr>
            <a:r>
              <a:rPr lang="en-US" sz="88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Perjalanan Startup: Dari Ide ke Bisnis yang Dapat Diulang</a:t>
            </a:r>
          </a:p>
          <a:p>
            <a:pPr algn="l">
              <a:lnSpc>
                <a:spcPts val="7742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49271" y="4018013"/>
            <a:ext cx="8749384" cy="217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MVP = produk paling sederhana yang memungkinkan Anda menguji asumsi bisnis inti dengan pengguna nyata. Tujuannya: menemukan bukti bahwa pengguna membutuhkan produk, memperoleh manfaat, dan bersedia membayarnya dengan ekonomi unit yang berkelanjutan.</a:t>
            </a:r>
          </a:p>
          <a:p>
            <a:pPr algn="just">
              <a:lnSpc>
                <a:spcPts val="286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92121" y="1711231"/>
            <a:ext cx="8749384" cy="92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Prinsip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9271" y="2741779"/>
            <a:ext cx="8135132" cy="8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J</a:t>
            </a: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angan Hanya Punya Ide. Buktikan.</a:t>
            </a:r>
          </a:p>
          <a:p>
            <a:pPr algn="l">
              <a:lnSpc>
                <a:spcPts val="3131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391872" y="2545179"/>
            <a:ext cx="4062319" cy="5196643"/>
            <a:chOff x="0" y="0"/>
            <a:chExt cx="5416425" cy="6928857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3"/>
            <a:srcRect l="0" t="2028" r="0" b="2028"/>
            <a:stretch>
              <a:fillRect/>
            </a:stretch>
          </p:blipFill>
          <p:spPr>
            <a:xfrm flipH="false" flipV="false">
              <a:off x="0" y="0"/>
              <a:ext cx="5416425" cy="6928857"/>
            </a:xfrm>
            <a:prstGeom prst="rect">
              <a:avLst/>
            </a:prstGeom>
          </p:spPr>
        </p:pic>
      </p:grpSp>
      <p:sp>
        <p:nvSpPr>
          <p:cNvPr name="AutoShape 8" id="8"/>
          <p:cNvSpPr/>
          <p:nvPr/>
        </p:nvSpPr>
        <p:spPr>
          <a:xfrm>
            <a:off x="1749271" y="3440020"/>
            <a:ext cx="874938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>
            <a:off x="0" y="9518318"/>
            <a:ext cx="14825587" cy="768682"/>
          </a:xfrm>
          <a:custGeom>
            <a:avLst/>
            <a:gdLst/>
            <a:ahLst/>
            <a:cxnLst/>
            <a:rect r="r" b="b" t="t" l="l"/>
            <a:pathLst>
              <a:path h="768682" w="14825587">
                <a:moveTo>
                  <a:pt x="0" y="0"/>
                </a:moveTo>
                <a:lnTo>
                  <a:pt x="14825587" y="0"/>
                </a:lnTo>
                <a:lnTo>
                  <a:pt x="14825587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>
            <a:off x="6256126" y="0"/>
            <a:ext cx="12031874" cy="770369"/>
          </a:xfrm>
          <a:custGeom>
            <a:avLst/>
            <a:gdLst/>
            <a:ahLst/>
            <a:cxnLst/>
            <a:rect r="r" b="b" t="t" l="l"/>
            <a:pathLst>
              <a:path h="770369" w="12031874">
                <a:moveTo>
                  <a:pt x="0" y="0"/>
                </a:moveTo>
                <a:lnTo>
                  <a:pt x="0" y="770369"/>
                </a:lnTo>
                <a:lnTo>
                  <a:pt x="12031874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749271" y="6048144"/>
            <a:ext cx="8911634" cy="2842012"/>
            <a:chOff x="0" y="0"/>
            <a:chExt cx="2347097" cy="7485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7097" cy="748513"/>
            </a:xfrm>
            <a:custGeom>
              <a:avLst/>
              <a:gdLst/>
              <a:ahLst/>
              <a:cxnLst/>
              <a:rect r="r" b="b" t="t" l="l"/>
              <a:pathLst>
                <a:path h="748513" w="2347097">
                  <a:moveTo>
                    <a:pt x="0" y="0"/>
                  </a:moveTo>
                  <a:lnTo>
                    <a:pt x="2347097" y="0"/>
                  </a:lnTo>
                  <a:lnTo>
                    <a:pt x="2347097" y="748513"/>
                  </a:lnTo>
                  <a:lnTo>
                    <a:pt x="0" y="748513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347097" cy="777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60"/>
                </a:lnSpc>
              </a:pPr>
            </a:p>
            <a:p>
              <a:pPr algn="l">
                <a:lnSpc>
                  <a:spcPts val="28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09015" y="6397936"/>
            <a:ext cx="8525148" cy="215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14"/>
              </a:lnSpc>
              <a:spcBef>
                <a:spcPct val="0"/>
              </a:spcBef>
            </a:pPr>
            <a:r>
              <a:rPr lang="en-US" b="true" sz="219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</a:t>
            </a:r>
            <a:r>
              <a:rPr lang="en-US" b="true" sz="219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ertanyaan Kunci untuk MVP</a:t>
            </a:r>
          </a:p>
          <a:p>
            <a:pPr algn="just">
              <a:lnSpc>
                <a:spcPts val="2414"/>
              </a:lnSpc>
              <a:spcBef>
                <a:spcPct val="0"/>
              </a:spcBef>
            </a:pPr>
          </a:p>
          <a:p>
            <a:pPr algn="just">
              <a:lnSpc>
                <a:spcPts val="2414"/>
              </a:lnSpc>
              <a:spcBef>
                <a:spcPct val="0"/>
              </a:spcBef>
            </a:pPr>
            <a:r>
              <a:rPr lang="en-US" b="true" sz="219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1) Apakah ada permintaan yang jelas? 2) Apakah pengguna benar-benar menggunakannya? 3) Apakah mereka mendapatkan manfaat? 4) Apakah mereka mau membayar? 5) Apakah ekonomi unitnya positif?</a:t>
            </a:r>
          </a:p>
          <a:p>
            <a:pPr algn="just">
              <a:lnSpc>
                <a:spcPts val="24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881434" y="3339401"/>
            <a:ext cx="14572757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>
            <a:off x="0" y="9518318"/>
            <a:ext cx="14825587" cy="768682"/>
          </a:xfrm>
          <a:custGeom>
            <a:avLst/>
            <a:gdLst/>
            <a:ahLst/>
            <a:cxnLst/>
            <a:rect r="r" b="b" t="t" l="l"/>
            <a:pathLst>
              <a:path h="768682" w="14825587">
                <a:moveTo>
                  <a:pt x="0" y="0"/>
                </a:moveTo>
                <a:lnTo>
                  <a:pt x="14825587" y="0"/>
                </a:lnTo>
                <a:lnTo>
                  <a:pt x="14825587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6256126" y="0"/>
            <a:ext cx="12031874" cy="770369"/>
          </a:xfrm>
          <a:custGeom>
            <a:avLst/>
            <a:gdLst/>
            <a:ahLst/>
            <a:cxnLst/>
            <a:rect r="r" b="b" t="t" l="l"/>
            <a:pathLst>
              <a:path h="770369" w="12031874">
                <a:moveTo>
                  <a:pt x="0" y="0"/>
                </a:moveTo>
                <a:lnTo>
                  <a:pt x="0" y="770369"/>
                </a:lnTo>
                <a:lnTo>
                  <a:pt x="12031874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824284" y="1610612"/>
            <a:ext cx="10084268" cy="92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Ekonomi Unit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81434" y="2641160"/>
            <a:ext cx="11528861" cy="4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Metrik Paling Praktis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7784" y="3982338"/>
            <a:ext cx="8749384" cy="217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Ekonomi unit mengukur profitabilitas pada tingkat pelanggan atau transaksi. Gunakan ini untuk menentukan apakah pertumbuhan dapat diskalakan sebelum mengalokasikan sumber daya besar.</a:t>
            </a:r>
          </a:p>
          <a:p>
            <a:pPr algn="just">
              <a:lnSpc>
                <a:spcPts val="2860"/>
              </a:lnSpc>
            </a:pPr>
          </a:p>
          <a:p>
            <a:pPr algn="just">
              <a:lnSpc>
                <a:spcPts val="286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881434" y="7113225"/>
            <a:ext cx="8782884" cy="1004866"/>
            <a:chOff x="0" y="0"/>
            <a:chExt cx="2313188" cy="2646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13188" cy="264656"/>
            </a:xfrm>
            <a:custGeom>
              <a:avLst/>
              <a:gdLst/>
              <a:ahLst/>
              <a:cxnLst/>
              <a:rect r="r" b="b" t="t" l="l"/>
              <a:pathLst>
                <a:path h="264656" w="2313188">
                  <a:moveTo>
                    <a:pt x="0" y="0"/>
                  </a:moveTo>
                  <a:lnTo>
                    <a:pt x="2313188" y="0"/>
                  </a:lnTo>
                  <a:lnTo>
                    <a:pt x="2313188" y="264656"/>
                  </a:lnTo>
                  <a:lnTo>
                    <a:pt x="0" y="264656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313188" cy="293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60"/>
                </a:lnSpc>
              </a:pPr>
            </a:p>
            <a:p>
              <a:pPr algn="l">
                <a:lnSpc>
                  <a:spcPts val="28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27052" y="7311737"/>
            <a:ext cx="8525148" cy="123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14"/>
              </a:lnSpc>
              <a:spcBef>
                <a:spcPct val="0"/>
              </a:spcBef>
            </a:pPr>
            <a:r>
              <a:rPr lang="en-US" b="true" sz="219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Fokus pada kontribusi dan rasio LTV:CAC sebelum memperluas belanja akuisisi.</a:t>
            </a:r>
          </a:p>
          <a:p>
            <a:pPr algn="just">
              <a:lnSpc>
                <a:spcPts val="2414"/>
              </a:lnSpc>
              <a:spcBef>
                <a:spcPct val="0"/>
              </a:spcBef>
            </a:pPr>
          </a:p>
          <a:p>
            <a:pPr algn="just">
              <a:lnSpc>
                <a:spcPts val="2414"/>
              </a:lnSpc>
              <a:spcBef>
                <a:spcPct val="0"/>
              </a:spcBef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2077986" y="3989438"/>
            <a:ext cx="4823149" cy="4900717"/>
            <a:chOff x="0" y="0"/>
            <a:chExt cx="6430865" cy="6534290"/>
          </a:xfrm>
        </p:grpSpPr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3"/>
            <a:srcRect l="0" t="11896" r="0" b="11896"/>
            <a:stretch>
              <a:fillRect/>
            </a:stretch>
          </p:blipFill>
          <p:spPr>
            <a:xfrm flipH="false" flipV="false">
              <a:off x="0" y="0"/>
              <a:ext cx="6430865" cy="6534290"/>
            </a:xfrm>
            <a:prstGeom prst="rect">
              <a:avLst/>
            </a:prstGeom>
          </p:spPr>
        </p:pic>
      </p:grpSp>
      <p:sp>
        <p:nvSpPr>
          <p:cNvPr name="TextBox 15" id="15"/>
          <p:cNvSpPr txBox="true"/>
          <p:nvPr/>
        </p:nvSpPr>
        <p:spPr>
          <a:xfrm rot="0">
            <a:off x="1769316" y="5814846"/>
            <a:ext cx="8782884" cy="123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3914" indent="-236957" lvl="1">
              <a:lnSpc>
                <a:spcPts val="2414"/>
              </a:lnSpc>
              <a:buAutoNum type="arabicPeriod" startAt="1"/>
            </a:pPr>
            <a:r>
              <a:rPr lang="en-US" b="true" sz="219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Pendapatan per pelanggan — misalnya, Rp100.000</a:t>
            </a:r>
          </a:p>
          <a:p>
            <a:pPr algn="l" marL="473914" indent="-236957" lvl="1">
              <a:lnSpc>
                <a:spcPts val="2414"/>
              </a:lnSpc>
              <a:buAutoNum type="arabicPeriod" startAt="1"/>
            </a:pPr>
            <a:r>
              <a:rPr lang="en-US" b="true" sz="219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Biaya untuk memperoleh &amp; melayani — misalnya, Rp40.000</a:t>
            </a:r>
          </a:p>
          <a:p>
            <a:pPr algn="l" marL="473914" indent="-236957" lvl="1">
              <a:lnSpc>
                <a:spcPts val="2414"/>
              </a:lnSpc>
              <a:buAutoNum type="arabicPeriod" startAt="1"/>
            </a:pPr>
            <a:r>
              <a:rPr lang="en-US" b="true" sz="219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Kontribusi = Pendapatan − Biaya → Rp60.000</a:t>
            </a:r>
          </a:p>
          <a:p>
            <a:pPr algn="ctr">
              <a:lnSpc>
                <a:spcPts val="24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434" y="5734257"/>
            <a:ext cx="4616350" cy="3172418"/>
            <a:chOff x="0" y="0"/>
            <a:chExt cx="1215829" cy="8355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5829" cy="835534"/>
            </a:xfrm>
            <a:custGeom>
              <a:avLst/>
              <a:gdLst/>
              <a:ahLst/>
              <a:cxnLst/>
              <a:rect r="r" b="b" t="t" l="l"/>
              <a:pathLst>
                <a:path h="835534" w="1215829">
                  <a:moveTo>
                    <a:pt x="0" y="0"/>
                  </a:moveTo>
                  <a:lnTo>
                    <a:pt x="1215829" y="0"/>
                  </a:lnTo>
                  <a:lnTo>
                    <a:pt x="1215829" y="835534"/>
                  </a:lnTo>
                  <a:lnTo>
                    <a:pt x="0" y="835534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15829" cy="864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9638" y="5734257"/>
            <a:ext cx="4616350" cy="3172418"/>
            <a:chOff x="0" y="0"/>
            <a:chExt cx="1215829" cy="8355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5829" cy="835534"/>
            </a:xfrm>
            <a:custGeom>
              <a:avLst/>
              <a:gdLst/>
              <a:ahLst/>
              <a:cxnLst/>
              <a:rect r="r" b="b" t="t" l="l"/>
              <a:pathLst>
                <a:path h="835534" w="1215829">
                  <a:moveTo>
                    <a:pt x="0" y="0"/>
                  </a:moveTo>
                  <a:lnTo>
                    <a:pt x="1215829" y="0"/>
                  </a:lnTo>
                  <a:lnTo>
                    <a:pt x="1215829" y="835534"/>
                  </a:lnTo>
                  <a:lnTo>
                    <a:pt x="0" y="835534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15829" cy="864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37841" y="5734257"/>
            <a:ext cx="4616350" cy="3172418"/>
            <a:chOff x="0" y="0"/>
            <a:chExt cx="1215829" cy="8355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5829" cy="835534"/>
            </a:xfrm>
            <a:custGeom>
              <a:avLst/>
              <a:gdLst/>
              <a:ahLst/>
              <a:cxnLst/>
              <a:rect r="r" b="b" t="t" l="l"/>
              <a:pathLst>
                <a:path h="835534" w="1215829">
                  <a:moveTo>
                    <a:pt x="0" y="0"/>
                  </a:moveTo>
                  <a:lnTo>
                    <a:pt x="1215829" y="0"/>
                  </a:lnTo>
                  <a:lnTo>
                    <a:pt x="1215829" y="835534"/>
                  </a:lnTo>
                  <a:lnTo>
                    <a:pt x="0" y="835534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215829" cy="864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81434" y="6005201"/>
            <a:ext cx="4616350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600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Asumsi</a:t>
            </a:r>
          </a:p>
          <a:p>
            <a:pPr algn="ctr">
              <a:lnSpc>
                <a:spcPts val="2860"/>
              </a:lnSpc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(Uji)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9638" y="6005201"/>
            <a:ext cx="4616350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600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Umpan Balik</a:t>
            </a:r>
          </a:p>
          <a:p>
            <a:pPr algn="ctr">
              <a:lnSpc>
                <a:spcPts val="2860"/>
              </a:lnSpc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(Perbaiki)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37841" y="6005201"/>
            <a:ext cx="4616350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600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Iterasi</a:t>
            </a:r>
          </a:p>
          <a:p>
            <a:pPr algn="ctr">
              <a:lnSpc>
                <a:spcPts val="2860"/>
              </a:lnSpc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(Uji Ulang)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881434" y="3339401"/>
            <a:ext cx="14572757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>
            <a:off x="0" y="9518318"/>
            <a:ext cx="14825587" cy="768682"/>
          </a:xfrm>
          <a:custGeom>
            <a:avLst/>
            <a:gdLst/>
            <a:ahLst/>
            <a:cxnLst/>
            <a:rect r="r" b="b" t="t" l="l"/>
            <a:pathLst>
              <a:path h="768682" w="14825587">
                <a:moveTo>
                  <a:pt x="0" y="0"/>
                </a:moveTo>
                <a:lnTo>
                  <a:pt x="14825587" y="0"/>
                </a:lnTo>
                <a:lnTo>
                  <a:pt x="14825587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>
            <a:off x="6256126" y="0"/>
            <a:ext cx="12031874" cy="770369"/>
          </a:xfrm>
          <a:custGeom>
            <a:avLst/>
            <a:gdLst/>
            <a:ahLst/>
            <a:cxnLst/>
            <a:rect r="r" b="b" t="t" l="l"/>
            <a:pathLst>
              <a:path h="770369" w="12031874">
                <a:moveTo>
                  <a:pt x="0" y="0"/>
                </a:moveTo>
                <a:lnTo>
                  <a:pt x="0" y="770369"/>
                </a:lnTo>
                <a:lnTo>
                  <a:pt x="12031874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2280678" y="6914521"/>
            <a:ext cx="3817863" cy="13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Rumusan hipotesis yang jelas tentang pelanggan, masalah, dan solusi.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7044117" y="6914521"/>
            <a:ext cx="4197830" cy="167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Tafsirkan respons pengguna sebagai sinyal untuk perubahan desain dan strategi.</a:t>
            </a:r>
          </a:p>
          <a:p>
            <a:pPr algn="just">
              <a:lnSpc>
                <a:spcPts val="2640"/>
              </a:lnSpc>
            </a:pP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237085" y="6914521"/>
            <a:ext cx="3817863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Lakukan siklus cepat sampai bukti terkumpul.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824284" y="1610612"/>
            <a:ext cx="10084268" cy="176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Mindset</a:t>
            </a:r>
          </a:p>
          <a:p>
            <a:pPr algn="l">
              <a:lnSpc>
                <a:spcPts val="661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881434" y="2641160"/>
            <a:ext cx="11528861" cy="4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Ump</a:t>
            </a: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an Balik Adalah Ruang untuk Perbaikan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81434" y="3648544"/>
            <a:ext cx="14358275" cy="196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3"/>
              </a:lnSpc>
              <a:spcBef>
                <a:spcPct val="0"/>
              </a:spcBef>
            </a:pPr>
            <a:r>
              <a:rPr lang="en-US" sz="2857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Umpan balik adalah data, bukan p</a:t>
            </a:r>
            <a:r>
              <a:rPr lang="en-US" sz="2857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enolakan. Perlakukan asumsi sebagai hipotesis: uji, kumpulkan umpan balik, lalu iterasi. Kegagalan dini adalah informasi—gunakan itu untuk menyempurnakan kecocokan produk-pasar.</a:t>
            </a:r>
          </a:p>
          <a:p>
            <a:pPr algn="just">
              <a:lnSpc>
                <a:spcPts val="3143"/>
              </a:lnSpc>
              <a:spcBef>
                <a:spcPct val="0"/>
              </a:spcBef>
            </a:pPr>
          </a:p>
          <a:p>
            <a:pPr algn="just">
              <a:lnSpc>
                <a:spcPts val="314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881434" y="3280006"/>
            <a:ext cx="14572757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>
            <a:off x="0" y="9518318"/>
            <a:ext cx="14825587" cy="768682"/>
          </a:xfrm>
          <a:custGeom>
            <a:avLst/>
            <a:gdLst/>
            <a:ahLst/>
            <a:cxnLst/>
            <a:rect r="r" b="b" t="t" l="l"/>
            <a:pathLst>
              <a:path h="768682" w="14825587">
                <a:moveTo>
                  <a:pt x="0" y="0"/>
                </a:moveTo>
                <a:lnTo>
                  <a:pt x="14825587" y="0"/>
                </a:lnTo>
                <a:lnTo>
                  <a:pt x="14825587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6256126" y="0"/>
            <a:ext cx="12031874" cy="770369"/>
          </a:xfrm>
          <a:custGeom>
            <a:avLst/>
            <a:gdLst/>
            <a:ahLst/>
            <a:cxnLst/>
            <a:rect r="r" b="b" t="t" l="l"/>
            <a:pathLst>
              <a:path h="770369" w="12031874">
                <a:moveTo>
                  <a:pt x="0" y="0"/>
                </a:moveTo>
                <a:lnTo>
                  <a:pt x="0" y="770369"/>
                </a:lnTo>
                <a:lnTo>
                  <a:pt x="12031874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145759" y="3791194"/>
            <a:ext cx="6406692" cy="5194899"/>
            <a:chOff x="0" y="0"/>
            <a:chExt cx="8542256" cy="6926532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3"/>
            <a:srcRect l="23670" t="101" r="25045" b="3090"/>
            <a:stretch>
              <a:fillRect/>
            </a:stretch>
          </p:blipFill>
          <p:spPr>
            <a:xfrm flipH="false" flipV="false">
              <a:off x="0" y="0"/>
              <a:ext cx="8542256" cy="6926532"/>
            </a:xfrm>
            <a:prstGeom prst="rect">
              <a:avLst/>
            </a:prstGeom>
          </p:spPr>
        </p:pic>
      </p:grpSp>
      <p:sp>
        <p:nvSpPr>
          <p:cNvPr name="TextBox 8" id="8"/>
          <p:cNvSpPr txBox="true"/>
          <p:nvPr/>
        </p:nvSpPr>
        <p:spPr>
          <a:xfrm rot="0">
            <a:off x="1824284" y="1551217"/>
            <a:ext cx="10084268" cy="92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Proyek Unggulan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81434" y="2581765"/>
            <a:ext cx="10027118" cy="4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Stud</a:t>
            </a: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i Kasus Identitas Visual yang Kompleks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17819" y="4211654"/>
            <a:ext cx="6430963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M</a:t>
            </a: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engapa Program Menggunakan Funnel</a:t>
            </a:r>
          </a:p>
          <a:p>
            <a:pPr algn="ctr">
              <a:lnSpc>
                <a:spcPts val="286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017819" y="4837824"/>
            <a:ext cx="8014636" cy="181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Kebutuhan sumber daya m</a:t>
            </a: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eningkat seiring startup maju. Funnel bertahap memastikan pendanaan dan dukungan dialokasikan berdasarkan bukti yang terukur, sehingga meminimalkan pemborosan modal.</a:t>
            </a:r>
          </a:p>
          <a:p>
            <a:pPr algn="just">
              <a:lnSpc>
                <a:spcPts val="286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767215" y="6525147"/>
            <a:ext cx="8046543" cy="181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286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Awal: 7 startup menerima dukungan awal</a:t>
            </a:r>
          </a:p>
          <a:p>
            <a:pPr algn="l" marL="561341" indent="-280670" lvl="1">
              <a:lnSpc>
                <a:spcPts val="286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Titik pemeriksaan: seleksi berbasis bukti</a:t>
            </a:r>
          </a:p>
          <a:p>
            <a:pPr algn="l" marL="561341" indent="-280670" lvl="1">
              <a:lnSpc>
                <a:spcPts val="286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Akhir: pendanaan difokuskan pada startup yang paling terbukti</a:t>
            </a:r>
          </a:p>
          <a:p>
            <a:pPr algn="l">
              <a:lnSpc>
                <a:spcPts val="28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81434" y="5265969"/>
            <a:ext cx="8749384" cy="1509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sz="26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Contoh: total pendanaan hingga tahap akhir Rp50–80 juta, dibagikan di seluruh checkpoint. Setiap tahap bersyarat pada bukti: traction, retensi, pendapatan, dan ekonomi unit.</a:t>
            </a:r>
          </a:p>
          <a:p>
            <a:pPr algn="just">
              <a:lnSpc>
                <a:spcPts val="286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24284" y="3016336"/>
            <a:ext cx="8749384" cy="176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Strategi Pendanaan</a:t>
            </a:r>
          </a:p>
          <a:p>
            <a:pPr algn="l">
              <a:lnSpc>
                <a:spcPts val="661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881434" y="4046884"/>
            <a:ext cx="8135132" cy="8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Aloka</a:t>
            </a: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si Bertahap</a:t>
            </a:r>
          </a:p>
          <a:p>
            <a:pPr algn="l">
              <a:lnSpc>
                <a:spcPts val="3131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391872" y="2545179"/>
            <a:ext cx="4062319" cy="5196643"/>
            <a:chOff x="0" y="0"/>
            <a:chExt cx="5416425" cy="6928857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3"/>
            <a:srcRect l="23918" t="0" r="23918" b="0"/>
            <a:stretch>
              <a:fillRect/>
            </a:stretch>
          </p:blipFill>
          <p:spPr>
            <a:xfrm flipH="false" flipV="false">
              <a:off x="0" y="0"/>
              <a:ext cx="5416425" cy="6928857"/>
            </a:xfrm>
            <a:prstGeom prst="rect">
              <a:avLst/>
            </a:prstGeom>
          </p:spPr>
        </p:pic>
      </p:grpSp>
      <p:sp>
        <p:nvSpPr>
          <p:cNvPr name="AutoShape 8" id="8"/>
          <p:cNvSpPr/>
          <p:nvPr/>
        </p:nvSpPr>
        <p:spPr>
          <a:xfrm>
            <a:off x="1881434" y="4745125"/>
            <a:ext cx="874938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>
            <a:off x="0" y="9518318"/>
            <a:ext cx="14825587" cy="768682"/>
          </a:xfrm>
          <a:custGeom>
            <a:avLst/>
            <a:gdLst/>
            <a:ahLst/>
            <a:cxnLst/>
            <a:rect r="r" b="b" t="t" l="l"/>
            <a:pathLst>
              <a:path h="768682" w="14825587">
                <a:moveTo>
                  <a:pt x="0" y="0"/>
                </a:moveTo>
                <a:lnTo>
                  <a:pt x="14825587" y="0"/>
                </a:lnTo>
                <a:lnTo>
                  <a:pt x="14825587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>
            <a:off x="6256126" y="0"/>
            <a:ext cx="12031874" cy="770369"/>
          </a:xfrm>
          <a:custGeom>
            <a:avLst/>
            <a:gdLst/>
            <a:ahLst/>
            <a:cxnLst/>
            <a:rect r="r" b="b" t="t" l="l"/>
            <a:pathLst>
              <a:path h="770369" w="12031874">
                <a:moveTo>
                  <a:pt x="0" y="0"/>
                </a:moveTo>
                <a:lnTo>
                  <a:pt x="0" y="770369"/>
                </a:lnTo>
                <a:lnTo>
                  <a:pt x="12031874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881434" y="6692436"/>
            <a:ext cx="4583309" cy="2214239"/>
            <a:chOff x="0" y="0"/>
            <a:chExt cx="1207127" cy="5831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127" cy="583174"/>
            </a:xfrm>
            <a:custGeom>
              <a:avLst/>
              <a:gdLst/>
              <a:ahLst/>
              <a:cxnLst/>
              <a:rect r="r" b="b" t="t" l="l"/>
              <a:pathLst>
                <a:path h="583174" w="1207127">
                  <a:moveTo>
                    <a:pt x="0" y="0"/>
                  </a:moveTo>
                  <a:lnTo>
                    <a:pt x="1207127" y="0"/>
                  </a:lnTo>
                  <a:lnTo>
                    <a:pt x="1207127" y="583174"/>
                  </a:lnTo>
                  <a:lnTo>
                    <a:pt x="0" y="583174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207127" cy="611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48047" y="7013476"/>
            <a:ext cx="2398712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G</a:t>
            </a: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erbang Tahap</a:t>
            </a:r>
          </a:p>
          <a:p>
            <a:pPr algn="ctr">
              <a:lnSpc>
                <a:spcPts val="286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048047" y="7538547"/>
            <a:ext cx="4150929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Tranche dicairkan saat KPI yang terukur tercapai.</a:t>
            </a:r>
          </a:p>
          <a:p>
            <a:pPr algn="just">
              <a:lnSpc>
                <a:spcPts val="2860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6626484" y="6692436"/>
            <a:ext cx="4583309" cy="2214239"/>
            <a:chOff x="0" y="0"/>
            <a:chExt cx="1207127" cy="5831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7127" cy="583174"/>
            </a:xfrm>
            <a:custGeom>
              <a:avLst/>
              <a:gdLst/>
              <a:ahLst/>
              <a:cxnLst/>
              <a:rect r="r" b="b" t="t" l="l"/>
              <a:pathLst>
                <a:path h="583174" w="1207127">
                  <a:moveTo>
                    <a:pt x="0" y="0"/>
                  </a:moveTo>
                  <a:lnTo>
                    <a:pt x="1207127" y="0"/>
                  </a:lnTo>
                  <a:lnTo>
                    <a:pt x="1207127" y="583174"/>
                  </a:lnTo>
                  <a:lnTo>
                    <a:pt x="0" y="583174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207127" cy="611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793097" y="7538547"/>
            <a:ext cx="4117889" cy="181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J</a:t>
            </a:r>
            <a:r>
              <a:rPr lang="en-US" sz="26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aga runway dengan mendanai inisiatif yang sudah tervalidasi saja.</a:t>
            </a:r>
          </a:p>
          <a:p>
            <a:pPr algn="just">
              <a:lnSpc>
                <a:spcPts val="2860"/>
              </a:lnSpc>
              <a:spcBef>
                <a:spcPct val="0"/>
              </a:spcBef>
            </a:pPr>
          </a:p>
          <a:p>
            <a:pPr algn="just">
              <a:lnSpc>
                <a:spcPts val="286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6793097" y="7013476"/>
            <a:ext cx="3522345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Efisiensi Sumber Daya</a:t>
            </a:r>
          </a:p>
          <a:p>
            <a:pPr algn="ctr">
              <a:lnSpc>
                <a:spcPts val="28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8934" y="4211869"/>
            <a:ext cx="6366799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What?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81434" y="4211869"/>
            <a:ext cx="48831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b="true" sz="24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25592" y="4211869"/>
            <a:ext cx="48831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b="true" sz="24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48934" y="4606839"/>
            <a:ext cx="14205257" cy="10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Apa yang ingin kita buktikan? Definisikan hipotesis: pelanggan, masalah, dan perilaku yang diharapkan.</a:t>
            </a:r>
          </a:p>
          <a:p>
            <a:pPr algn="just">
              <a:lnSpc>
                <a:spcPts val="2640"/>
              </a:lnSpc>
            </a:pP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824284" y="1962236"/>
            <a:ext cx="13289211" cy="176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Setiap Tahap </a:t>
            </a:r>
          </a:p>
          <a:p>
            <a:pPr algn="l">
              <a:lnSpc>
                <a:spcPts val="661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81434" y="2992784"/>
            <a:ext cx="11528861" cy="4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Men</a:t>
            </a: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anyakan Lima Pertanyaan</a:t>
            </a:r>
          </a:p>
        </p:txBody>
      </p:sp>
      <p:sp>
        <p:nvSpPr>
          <p:cNvPr name="AutoShape 9" id="9"/>
          <p:cNvSpPr/>
          <p:nvPr/>
        </p:nvSpPr>
        <p:spPr>
          <a:xfrm>
            <a:off x="1881434" y="3691025"/>
            <a:ext cx="14572757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>
            <a:off x="0" y="9518318"/>
            <a:ext cx="14825587" cy="768682"/>
          </a:xfrm>
          <a:custGeom>
            <a:avLst/>
            <a:gdLst/>
            <a:ahLst/>
            <a:cxnLst/>
            <a:rect r="r" b="b" t="t" l="l"/>
            <a:pathLst>
              <a:path h="768682" w="14825587">
                <a:moveTo>
                  <a:pt x="0" y="0"/>
                </a:moveTo>
                <a:lnTo>
                  <a:pt x="14825587" y="0"/>
                </a:lnTo>
                <a:lnTo>
                  <a:pt x="14825587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>
            <a:off x="6256126" y="0"/>
            <a:ext cx="12031874" cy="770369"/>
          </a:xfrm>
          <a:custGeom>
            <a:avLst/>
            <a:gdLst/>
            <a:ahLst/>
            <a:cxnLst/>
            <a:rect r="r" b="b" t="t" l="l"/>
            <a:pathLst>
              <a:path h="770369" w="12031874">
                <a:moveTo>
                  <a:pt x="0" y="0"/>
                </a:moveTo>
                <a:lnTo>
                  <a:pt x="0" y="770369"/>
                </a:lnTo>
                <a:lnTo>
                  <a:pt x="12031874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248934" y="5114925"/>
            <a:ext cx="6366799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Why?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881434" y="5114925"/>
            <a:ext cx="48831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b="true" sz="24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25592" y="5114925"/>
            <a:ext cx="48831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b="true" sz="24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48934" y="5509895"/>
            <a:ext cx="14205257" cy="10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Eksperimen, wawancara, atau fitur spesifik apa yang akan membuktikannya?</a:t>
            </a:r>
          </a:p>
          <a:p>
            <a:pPr algn="just">
              <a:lnSpc>
                <a:spcPts val="2640"/>
              </a:lnSpc>
            </a:pP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248934" y="6021705"/>
            <a:ext cx="6366799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How?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881434" y="6021705"/>
            <a:ext cx="48831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b="true" sz="24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25592" y="6021705"/>
            <a:ext cx="48831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b="true" sz="24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48934" y="6540500"/>
            <a:ext cx="13693127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Uji apa yang akan menghasilkan perilaku yang dapat diamati (misalnya, halaman arahan, uji coba, transaksi berbayar)?</a:t>
            </a:r>
          </a:p>
          <a:p>
            <a:pPr algn="just">
              <a:lnSpc>
                <a:spcPts val="2640"/>
              </a:lnSpc>
            </a:pP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191784" y="7319010"/>
            <a:ext cx="6366799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Evidence?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824284" y="7319010"/>
            <a:ext cx="48831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b="true" sz="24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68442" y="7319010"/>
            <a:ext cx="48831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b="true" sz="24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91784" y="7713980"/>
            <a:ext cx="14205257" cy="10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Metrik apa yang dihitung sebagai bukti (pengguna, retensi, pembayar, CAC, LTV)?</a:t>
            </a:r>
          </a:p>
          <a:p>
            <a:pPr algn="just">
              <a:lnSpc>
                <a:spcPts val="2640"/>
              </a:lnSpc>
            </a:pP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248934" y="8395010"/>
            <a:ext cx="6366799" cy="10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Next?</a:t>
            </a:r>
          </a:p>
          <a:p>
            <a:pPr algn="just">
              <a:lnSpc>
                <a:spcPts val="2640"/>
              </a:lnSpc>
            </a:pP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881434" y="8395010"/>
            <a:ext cx="48831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b="true" sz="24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125592" y="8395010"/>
            <a:ext cx="48831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b="true" sz="24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48934" y="8789980"/>
            <a:ext cx="14205257" cy="10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Apa yang harus kita pelajari selanjutnya untuk mengurangi risiko pendanaan pada tranche berikutnya?</a:t>
            </a:r>
          </a:p>
          <a:p>
            <a:pPr algn="just">
              <a:lnSpc>
                <a:spcPts val="2640"/>
              </a:lnSpc>
            </a:pPr>
          </a:p>
          <a:p>
            <a:pPr algn="just">
              <a:lnSpc>
                <a:spcPts val="264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81434" y="4737309"/>
            <a:ext cx="14572757" cy="78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sz="26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Buat kemajuan menjadi terukur. Contoh bukti konkret:</a:t>
            </a:r>
          </a:p>
          <a:p>
            <a:pPr algn="just">
              <a:lnSpc>
                <a:spcPts val="286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3809" y="2514051"/>
            <a:ext cx="11182543" cy="92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Bukti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81434" y="3544599"/>
            <a:ext cx="12673019" cy="8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Sepert</a:t>
            </a: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i Apa yang Baik?</a:t>
            </a:r>
          </a:p>
          <a:p>
            <a:pPr algn="l">
              <a:lnSpc>
                <a:spcPts val="3131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1881434" y="4242840"/>
            <a:ext cx="14572757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>
            <a:off x="0" y="0"/>
            <a:ext cx="14825587" cy="770369"/>
          </a:xfrm>
          <a:custGeom>
            <a:avLst/>
            <a:gdLst/>
            <a:ahLst/>
            <a:cxnLst/>
            <a:rect r="r" b="b" t="t" l="l"/>
            <a:pathLst>
              <a:path h="770369" w="14825587">
                <a:moveTo>
                  <a:pt x="14825587" y="0"/>
                </a:moveTo>
                <a:lnTo>
                  <a:pt x="14825587" y="770369"/>
                </a:lnTo>
                <a:lnTo>
                  <a:pt x="0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>
            <a:off x="6208501" y="9518318"/>
            <a:ext cx="12079499" cy="768682"/>
          </a:xfrm>
          <a:custGeom>
            <a:avLst/>
            <a:gdLst/>
            <a:ahLst/>
            <a:cxnLst/>
            <a:rect r="r" b="b" t="t" l="l"/>
            <a:pathLst>
              <a:path h="768682" w="12079499">
                <a:moveTo>
                  <a:pt x="12079499" y="0"/>
                </a:moveTo>
                <a:lnTo>
                  <a:pt x="0" y="0"/>
                </a:lnTo>
                <a:lnTo>
                  <a:pt x="0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751000" y="5308925"/>
            <a:ext cx="8915001" cy="234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264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100 p</a:t>
            </a:r>
            <a:r>
              <a:rPr lang="en-US" sz="24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engguna mencoba MVP</a:t>
            </a:r>
          </a:p>
          <a:p>
            <a:pPr algn="l" marL="518162" indent="-259081" lvl="1">
              <a:lnSpc>
                <a:spcPts val="264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60 pengguna kembali (retensi 60%)</a:t>
            </a:r>
          </a:p>
          <a:p>
            <a:pPr algn="l" marL="518162" indent="-259081" lvl="1">
              <a:lnSpc>
                <a:spcPts val="264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20 pelanggan berbayar</a:t>
            </a:r>
          </a:p>
          <a:p>
            <a:pPr algn="l" marL="518162" indent="-259081" lvl="1">
              <a:lnSpc>
                <a:spcPts val="264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Tingkat pesanan berulang 80%</a:t>
            </a:r>
          </a:p>
          <a:p>
            <a:pPr algn="l" marL="518162" indent="-259081" lvl="1">
              <a:lnSpc>
                <a:spcPts val="264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Pendapatan Rp5.000.000 / bulan</a:t>
            </a:r>
          </a:p>
          <a:p>
            <a:pPr algn="l" marL="518162" indent="-259081" lvl="1">
              <a:lnSpc>
                <a:spcPts val="264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CAC Rp20.000 — LTV Rp200.000</a:t>
            </a:r>
          </a:p>
          <a:p>
            <a:pPr algn="l">
              <a:lnSpc>
                <a:spcPts val="264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881434" y="7541252"/>
            <a:ext cx="14572757" cy="1272581"/>
            <a:chOff x="0" y="0"/>
            <a:chExt cx="3838092" cy="3351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38092" cy="335165"/>
            </a:xfrm>
            <a:custGeom>
              <a:avLst/>
              <a:gdLst/>
              <a:ahLst/>
              <a:cxnLst/>
              <a:rect r="r" b="b" t="t" l="l"/>
              <a:pathLst>
                <a:path h="335165" w="3838092">
                  <a:moveTo>
                    <a:pt x="0" y="0"/>
                  </a:moveTo>
                  <a:lnTo>
                    <a:pt x="3838092" y="0"/>
                  </a:lnTo>
                  <a:lnTo>
                    <a:pt x="3838092" y="335165"/>
                  </a:lnTo>
                  <a:lnTo>
                    <a:pt x="0" y="335165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838092" cy="363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584235" y="7901630"/>
            <a:ext cx="7267416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Ang</a:t>
            </a:r>
            <a:r>
              <a:rPr lang="en-US" b="true" sz="24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ka harus realistis, terlacak, dan dapat diaudit.</a:t>
            </a:r>
          </a:p>
          <a:p>
            <a:pPr algn="ctr">
              <a:lnSpc>
                <a:spcPts val="2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81434" y="4709997"/>
            <a:ext cx="4616350" cy="4196678"/>
            <a:chOff x="0" y="0"/>
            <a:chExt cx="1215829" cy="11052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5829" cy="1105298"/>
            </a:xfrm>
            <a:custGeom>
              <a:avLst/>
              <a:gdLst/>
              <a:ahLst/>
              <a:cxnLst/>
              <a:rect r="r" b="b" t="t" l="l"/>
              <a:pathLst>
                <a:path h="1105298" w="1215829">
                  <a:moveTo>
                    <a:pt x="0" y="0"/>
                  </a:moveTo>
                  <a:lnTo>
                    <a:pt x="1215829" y="0"/>
                  </a:lnTo>
                  <a:lnTo>
                    <a:pt x="1215829" y="1105298"/>
                  </a:lnTo>
                  <a:lnTo>
                    <a:pt x="0" y="1105298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15829" cy="1133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59638" y="4709997"/>
            <a:ext cx="4616350" cy="4196678"/>
            <a:chOff x="0" y="0"/>
            <a:chExt cx="1215829" cy="1105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5829" cy="1105298"/>
            </a:xfrm>
            <a:custGeom>
              <a:avLst/>
              <a:gdLst/>
              <a:ahLst/>
              <a:cxnLst/>
              <a:rect r="r" b="b" t="t" l="l"/>
              <a:pathLst>
                <a:path h="1105298" w="1215829">
                  <a:moveTo>
                    <a:pt x="0" y="0"/>
                  </a:moveTo>
                  <a:lnTo>
                    <a:pt x="1215829" y="0"/>
                  </a:lnTo>
                  <a:lnTo>
                    <a:pt x="1215829" y="1105298"/>
                  </a:lnTo>
                  <a:lnTo>
                    <a:pt x="0" y="1105298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15829" cy="1133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37841" y="4709997"/>
            <a:ext cx="4616350" cy="4196678"/>
            <a:chOff x="0" y="0"/>
            <a:chExt cx="1215829" cy="11052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5829" cy="1105298"/>
            </a:xfrm>
            <a:custGeom>
              <a:avLst/>
              <a:gdLst/>
              <a:ahLst/>
              <a:cxnLst/>
              <a:rect r="r" b="b" t="t" l="l"/>
              <a:pathLst>
                <a:path h="1105298" w="1215829">
                  <a:moveTo>
                    <a:pt x="0" y="0"/>
                  </a:moveTo>
                  <a:lnTo>
                    <a:pt x="1215829" y="0"/>
                  </a:lnTo>
                  <a:lnTo>
                    <a:pt x="1215829" y="1105298"/>
                  </a:lnTo>
                  <a:lnTo>
                    <a:pt x="0" y="1105298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215829" cy="1133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24284" y="4824196"/>
            <a:ext cx="4616350" cy="78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6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</a:t>
            </a:r>
          </a:p>
          <a:p>
            <a:pPr algn="ctr">
              <a:lnSpc>
                <a:spcPts val="2860"/>
              </a:lnSpc>
            </a:pPr>
            <a:r>
              <a:rPr lang="en-US" b="true" sz="26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(Uji Harga)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66418" y="4824196"/>
            <a:ext cx="4616350" cy="78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6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</a:t>
            </a:r>
          </a:p>
          <a:p>
            <a:pPr algn="ctr">
              <a:lnSpc>
                <a:spcPts val="2860"/>
              </a:lnSpc>
            </a:pPr>
            <a:r>
              <a:rPr lang="en-US" b="true" sz="26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(Tingkatkan Retensi)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11393" y="4862201"/>
            <a:ext cx="4616350" cy="78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0"/>
              </a:lnSpc>
            </a:pPr>
            <a:r>
              <a:rPr lang="en-US" sz="26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3</a:t>
            </a:r>
          </a:p>
          <a:p>
            <a:pPr algn="ctr">
              <a:lnSpc>
                <a:spcPts val="2860"/>
              </a:lnSpc>
            </a:pPr>
            <a:r>
              <a:rPr lang="en-US" b="true" sz="260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(Optimalkan Akuisisi)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881434" y="3339401"/>
            <a:ext cx="14572757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>
            <a:off x="0" y="9518318"/>
            <a:ext cx="14825587" cy="768682"/>
          </a:xfrm>
          <a:custGeom>
            <a:avLst/>
            <a:gdLst/>
            <a:ahLst/>
            <a:cxnLst/>
            <a:rect r="r" b="b" t="t" l="l"/>
            <a:pathLst>
              <a:path h="768682" w="14825587">
                <a:moveTo>
                  <a:pt x="0" y="0"/>
                </a:moveTo>
                <a:lnTo>
                  <a:pt x="14825587" y="0"/>
                </a:lnTo>
                <a:lnTo>
                  <a:pt x="14825587" y="768682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>
            <a:off x="6256126" y="0"/>
            <a:ext cx="12031874" cy="770369"/>
          </a:xfrm>
          <a:custGeom>
            <a:avLst/>
            <a:gdLst/>
            <a:ahLst/>
            <a:cxnLst/>
            <a:rect r="r" b="b" t="t" l="l"/>
            <a:pathLst>
              <a:path h="770369" w="12031874">
                <a:moveTo>
                  <a:pt x="0" y="0"/>
                </a:moveTo>
                <a:lnTo>
                  <a:pt x="0" y="770369"/>
                </a:lnTo>
                <a:lnTo>
                  <a:pt x="12031874" y="770369"/>
                </a:lnTo>
              </a:path>
            </a:pathLst>
          </a:cu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2280678" y="6018219"/>
            <a:ext cx="3817863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Lakukan A/B pricing dan transaksi nyata untuk memastikan kesediaan membayar.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7235069" y="6018219"/>
            <a:ext cx="3817863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Ukur retensi kohort dan jalankan peningkatan produk yang ditargetkan.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209412" y="5904871"/>
            <a:ext cx="3817863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Turunkan CAC sambil mempertahankan kualitas konversi.</a:t>
            </a:r>
          </a:p>
          <a:p>
            <a:pPr algn="just">
              <a:lnSpc>
                <a:spcPts val="264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824284" y="1610612"/>
            <a:ext cx="10084268" cy="925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0"/>
              </a:lnSpc>
            </a:pPr>
            <a:r>
              <a:rPr lang="en-US" sz="759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Dari Bukti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81434" y="2641160"/>
            <a:ext cx="11528861" cy="4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3599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ke Rencana Pertumbuhan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81434" y="3545941"/>
            <a:ext cx="14572757" cy="105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Setelah bukti m</a:t>
            </a:r>
            <a:r>
              <a:rPr lang="en-US" sz="2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emenuhi kriteria tahap, tentukan eksperimen berikutnya: uji harga, taktik retensi, dan akuisisi yang dapat diskalakan. Setiap langkah harus terhubung kembali ke daftar periksa lima tahap.</a:t>
            </a:r>
          </a:p>
          <a:p>
            <a:pPr algn="l">
              <a:lnSpc>
                <a:spcPts val="2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2776" y="3653280"/>
            <a:ext cx="12864827" cy="1772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1480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Te</a:t>
            </a:r>
            <a:r>
              <a:rPr lang="en-US" sz="14804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rima Kasih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152776" y="1234440"/>
            <a:ext cx="13379474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3356209" y="9019223"/>
            <a:ext cx="390309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DAHVfM-zxU8</dc:identifier>
  <dcterms:modified xsi:type="dcterms:W3CDTF">2011-08-01T06:04:30Z</dcterms:modified>
  <cp:revision>1</cp:revision>
  <dc:title>Kreatif 2026</dc:title>
</cp:coreProperties>
</file>