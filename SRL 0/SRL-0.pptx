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TT Hoves" charset="1" panose="02000003020000060003"/>
      <p:regular r:id="rId14"/>
    </p:embeddedFont>
    <p:embeddedFont>
      <p:font typeface="TT Hoves Bold" charset="1" panose="02000003020000060003"/>
      <p:regular r:id="rId15"/>
    </p:embeddedFont>
    <p:embeddedFont>
      <p:font typeface="Arial MT Pro" charset="1" panose="020B0502020202020204"/>
      <p:regular r:id="rId16"/>
    </p:embeddedFont>
    <p:embeddedFont>
      <p:font typeface="Arial MT Pro Bold" charset="1" panose="020B0802020202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152776" y="1234440"/>
            <a:ext cx="1337947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4428985" y="9019223"/>
            <a:ext cx="9228055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28700" y="3761622"/>
            <a:ext cx="14731623" cy="4021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42"/>
              </a:lnSpc>
            </a:pPr>
            <a:r>
              <a:rPr lang="en-US" sz="8899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SRL 0</a:t>
            </a:r>
          </a:p>
          <a:p>
            <a:pPr algn="l">
              <a:lnSpc>
                <a:spcPts val="7742"/>
              </a:lnSpc>
            </a:pPr>
            <a:r>
              <a:rPr lang="en-US" sz="8899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Competencies-Based Target Market Analysis</a:t>
            </a:r>
          </a:p>
          <a:p>
            <a:pPr algn="l">
              <a:lnSpc>
                <a:spcPts val="7742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49271" y="4018013"/>
            <a:ext cx="8749384" cy="109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60"/>
              </a:lnSpc>
            </a:pPr>
            <a:r>
              <a:rPr lang="en-US" sz="26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Memahami kesiapan dasar startup dari sudut pandang kapabilitas eksekusi internal dan peluang pasar eksternal.</a:t>
            </a:r>
          </a:p>
          <a:p>
            <a:pPr algn="just">
              <a:lnSpc>
                <a:spcPts val="286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692121" y="2225167"/>
            <a:ext cx="8749384" cy="925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0"/>
              </a:lnSpc>
            </a:pPr>
            <a:r>
              <a:rPr lang="en-US" sz="7598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Fondasi Utama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2391872" y="2545179"/>
            <a:ext cx="4062319" cy="5196643"/>
            <a:chOff x="0" y="0"/>
            <a:chExt cx="5416425" cy="6928857"/>
          </a:xfrm>
        </p:grpSpPr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3"/>
            <a:srcRect l="0" t="2028" r="0" b="2028"/>
            <a:stretch>
              <a:fillRect/>
            </a:stretch>
          </p:blipFill>
          <p:spPr>
            <a:xfrm flipH="false" flipV="false">
              <a:off x="0" y="0"/>
              <a:ext cx="5416425" cy="6928857"/>
            </a:xfrm>
            <a:prstGeom prst="rect">
              <a:avLst/>
            </a:prstGeom>
          </p:spPr>
        </p:pic>
      </p:grpSp>
      <p:sp>
        <p:nvSpPr>
          <p:cNvPr name="AutoShape 7" id="7"/>
          <p:cNvSpPr/>
          <p:nvPr/>
        </p:nvSpPr>
        <p:spPr>
          <a:xfrm>
            <a:off x="1749271" y="3440020"/>
            <a:ext cx="874938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>
            <a:off x="0" y="9518318"/>
            <a:ext cx="14825587" cy="768682"/>
          </a:xfrm>
          <a:custGeom>
            <a:avLst/>
            <a:gdLst/>
            <a:ahLst/>
            <a:cxnLst/>
            <a:rect r="r" b="b" t="t" l="l"/>
            <a:pathLst>
              <a:path h="768682" w="14825587">
                <a:moveTo>
                  <a:pt x="0" y="0"/>
                </a:moveTo>
                <a:lnTo>
                  <a:pt x="14825587" y="0"/>
                </a:lnTo>
                <a:lnTo>
                  <a:pt x="14825587" y="768682"/>
                </a:lnTo>
              </a:path>
            </a:pathLst>
          </a:cu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>
            <a:off x="6256126" y="0"/>
            <a:ext cx="12031874" cy="770369"/>
          </a:xfrm>
          <a:custGeom>
            <a:avLst/>
            <a:gdLst/>
            <a:ahLst/>
            <a:cxnLst/>
            <a:rect r="r" b="b" t="t" l="l"/>
            <a:pathLst>
              <a:path h="770369" w="12031874">
                <a:moveTo>
                  <a:pt x="0" y="0"/>
                </a:moveTo>
                <a:lnTo>
                  <a:pt x="0" y="770369"/>
                </a:lnTo>
                <a:lnTo>
                  <a:pt x="12031874" y="770369"/>
                </a:lnTo>
              </a:path>
            </a:pathLst>
          </a:cu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749271" y="5641708"/>
            <a:ext cx="8911634" cy="1836511"/>
            <a:chOff x="0" y="0"/>
            <a:chExt cx="2347097" cy="4836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47097" cy="483690"/>
            </a:xfrm>
            <a:custGeom>
              <a:avLst/>
              <a:gdLst/>
              <a:ahLst/>
              <a:cxnLst/>
              <a:rect r="r" b="b" t="t" l="l"/>
              <a:pathLst>
                <a:path h="483690" w="2347097">
                  <a:moveTo>
                    <a:pt x="0" y="0"/>
                  </a:moveTo>
                  <a:lnTo>
                    <a:pt x="2347097" y="0"/>
                  </a:lnTo>
                  <a:lnTo>
                    <a:pt x="2347097" y="483690"/>
                  </a:lnTo>
                  <a:lnTo>
                    <a:pt x="0" y="483690"/>
                  </a:lnTo>
                  <a:close/>
                </a:path>
              </a:pathLst>
            </a:custGeom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2347097" cy="5122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860"/>
                </a:lnSpc>
              </a:pPr>
            </a:p>
            <a:p>
              <a:pPr algn="l">
                <a:lnSpc>
                  <a:spcPts val="286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909015" y="5991500"/>
            <a:ext cx="8525148" cy="184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14"/>
              </a:lnSpc>
              <a:spcBef>
                <a:spcPct val="0"/>
              </a:spcBef>
            </a:pPr>
            <a:r>
              <a:rPr lang="en-US" b="true" sz="2195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Fokusnya masih sangat fundamental</a:t>
            </a:r>
          </a:p>
          <a:p>
            <a:pPr algn="just">
              <a:lnSpc>
                <a:spcPts val="2414"/>
              </a:lnSpc>
              <a:spcBef>
                <a:spcPct val="0"/>
              </a:spcBef>
            </a:pPr>
          </a:p>
          <a:p>
            <a:pPr algn="just">
              <a:lnSpc>
                <a:spcPts val="2414"/>
              </a:lnSpc>
              <a:spcBef>
                <a:spcPct val="0"/>
              </a:spcBef>
            </a:pPr>
            <a:r>
              <a:rPr lang="en-US" sz="2195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`Apakah tim yang kita punya memiliki kemampuan dan resource yang cukup untuk mengejar market opportunity yang dipilih?`</a:t>
            </a:r>
          </a:p>
          <a:p>
            <a:pPr algn="just">
              <a:lnSpc>
                <a:spcPts val="2414"/>
              </a:lnSpc>
              <a:spcBef>
                <a:spcPct val="0"/>
              </a:spcBef>
            </a:pPr>
          </a:p>
          <a:p>
            <a:pPr algn="just">
              <a:lnSpc>
                <a:spcPts val="241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81434" y="4842650"/>
            <a:ext cx="4616350" cy="3172418"/>
            <a:chOff x="0" y="0"/>
            <a:chExt cx="1215829" cy="83553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15829" cy="835534"/>
            </a:xfrm>
            <a:custGeom>
              <a:avLst/>
              <a:gdLst/>
              <a:ahLst/>
              <a:cxnLst/>
              <a:rect r="r" b="b" t="t" l="l"/>
              <a:pathLst>
                <a:path h="835534" w="1215829">
                  <a:moveTo>
                    <a:pt x="0" y="0"/>
                  </a:moveTo>
                  <a:lnTo>
                    <a:pt x="1215829" y="0"/>
                  </a:lnTo>
                  <a:lnTo>
                    <a:pt x="1215829" y="835534"/>
                  </a:lnTo>
                  <a:lnTo>
                    <a:pt x="0" y="835534"/>
                  </a:lnTo>
                  <a:close/>
                </a:path>
              </a:pathLst>
            </a:custGeom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215829" cy="864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859638" y="4842650"/>
            <a:ext cx="4616350" cy="3172418"/>
            <a:chOff x="0" y="0"/>
            <a:chExt cx="1215829" cy="8355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15829" cy="835534"/>
            </a:xfrm>
            <a:custGeom>
              <a:avLst/>
              <a:gdLst/>
              <a:ahLst/>
              <a:cxnLst/>
              <a:rect r="r" b="b" t="t" l="l"/>
              <a:pathLst>
                <a:path h="835534" w="1215829">
                  <a:moveTo>
                    <a:pt x="0" y="0"/>
                  </a:moveTo>
                  <a:lnTo>
                    <a:pt x="1215829" y="0"/>
                  </a:lnTo>
                  <a:lnTo>
                    <a:pt x="1215829" y="835534"/>
                  </a:lnTo>
                  <a:lnTo>
                    <a:pt x="0" y="835534"/>
                  </a:lnTo>
                  <a:close/>
                </a:path>
              </a:pathLst>
            </a:custGeom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215829" cy="864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837841" y="4842650"/>
            <a:ext cx="4616350" cy="3172418"/>
            <a:chOff x="0" y="0"/>
            <a:chExt cx="1215829" cy="8355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15829" cy="835534"/>
            </a:xfrm>
            <a:custGeom>
              <a:avLst/>
              <a:gdLst/>
              <a:ahLst/>
              <a:cxnLst/>
              <a:rect r="r" b="b" t="t" l="l"/>
              <a:pathLst>
                <a:path h="835534" w="1215829">
                  <a:moveTo>
                    <a:pt x="0" y="0"/>
                  </a:moveTo>
                  <a:lnTo>
                    <a:pt x="1215829" y="0"/>
                  </a:lnTo>
                  <a:lnTo>
                    <a:pt x="1215829" y="835534"/>
                  </a:lnTo>
                  <a:lnTo>
                    <a:pt x="0" y="835534"/>
                  </a:lnTo>
                  <a:close/>
                </a:path>
              </a:pathLst>
            </a:custGeom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215829" cy="864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881434" y="5113594"/>
            <a:ext cx="4616350" cy="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0"/>
              </a:lnSpc>
            </a:pPr>
            <a:r>
              <a:rPr lang="en-US" b="true" sz="2600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Capabilty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59638" y="5113594"/>
            <a:ext cx="4616350" cy="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0"/>
              </a:lnSpc>
            </a:pPr>
            <a:r>
              <a:rPr lang="en-US" b="true" sz="2600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Market Opportunity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837841" y="5113594"/>
            <a:ext cx="4616350" cy="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0"/>
              </a:lnSpc>
            </a:pPr>
            <a:r>
              <a:rPr lang="en-US" b="true" sz="2600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Purpose</a:t>
            </a:r>
          </a:p>
        </p:txBody>
      </p:sp>
      <p:sp>
        <p:nvSpPr>
          <p:cNvPr name="AutoShape 15" id="15"/>
          <p:cNvSpPr/>
          <p:nvPr/>
        </p:nvSpPr>
        <p:spPr>
          <a:xfrm>
            <a:off x="1881434" y="3339401"/>
            <a:ext cx="14572757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>
            <a:off x="0" y="9518318"/>
            <a:ext cx="14825587" cy="768682"/>
          </a:xfrm>
          <a:custGeom>
            <a:avLst/>
            <a:gdLst/>
            <a:ahLst/>
            <a:cxnLst/>
            <a:rect r="r" b="b" t="t" l="l"/>
            <a:pathLst>
              <a:path h="768682" w="14825587">
                <a:moveTo>
                  <a:pt x="0" y="0"/>
                </a:moveTo>
                <a:lnTo>
                  <a:pt x="14825587" y="0"/>
                </a:lnTo>
                <a:lnTo>
                  <a:pt x="14825587" y="768682"/>
                </a:lnTo>
              </a:path>
            </a:pathLst>
          </a:cu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>
            <a:off x="6256126" y="0"/>
            <a:ext cx="12031874" cy="770369"/>
          </a:xfrm>
          <a:custGeom>
            <a:avLst/>
            <a:gdLst/>
            <a:ahLst/>
            <a:cxnLst/>
            <a:rect r="r" b="b" t="t" l="l"/>
            <a:pathLst>
              <a:path h="770369" w="12031874">
                <a:moveTo>
                  <a:pt x="0" y="0"/>
                </a:moveTo>
                <a:lnTo>
                  <a:pt x="0" y="770369"/>
                </a:lnTo>
                <a:lnTo>
                  <a:pt x="12031874" y="770369"/>
                </a:lnTo>
              </a:path>
            </a:pathLst>
          </a:cu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3137988" y="6099294"/>
            <a:ext cx="2466949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40"/>
              </a:lnSpc>
            </a:pPr>
            <a:r>
              <a:rPr lang="en-US" sz="24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Kemampuan Tim</a:t>
            </a:r>
          </a:p>
          <a:p>
            <a:pPr algn="just">
              <a:lnSpc>
                <a:spcPts val="2640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8117871" y="6099294"/>
            <a:ext cx="2099883" cy="1011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40"/>
              </a:lnSpc>
            </a:pPr>
            <a:r>
              <a:rPr lang="en-US" sz="24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Peluang Pasar</a:t>
            </a:r>
          </a:p>
          <a:p>
            <a:pPr algn="just">
              <a:lnSpc>
                <a:spcPts val="2640"/>
              </a:lnSpc>
            </a:pPr>
          </a:p>
          <a:p>
            <a:pPr algn="just">
              <a:lnSpc>
                <a:spcPts val="2640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2691719" y="6099294"/>
            <a:ext cx="2908594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40"/>
              </a:lnSpc>
            </a:pPr>
            <a:r>
              <a:rPr lang="en-US" sz="24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Alasan / Misi Startup</a:t>
            </a:r>
          </a:p>
          <a:p>
            <a:pPr algn="just">
              <a:lnSpc>
                <a:spcPts val="2640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817504" y="2286069"/>
            <a:ext cx="10084268" cy="1761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0"/>
              </a:lnSpc>
            </a:pPr>
            <a:r>
              <a:rPr lang="en-US" sz="7598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Ada 3 hal utama</a:t>
            </a:r>
          </a:p>
          <a:p>
            <a:pPr algn="l">
              <a:lnSpc>
                <a:spcPts val="661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881434" y="3339401"/>
            <a:ext cx="14572757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>
            <a:off x="0" y="9518318"/>
            <a:ext cx="14825587" cy="768682"/>
          </a:xfrm>
          <a:custGeom>
            <a:avLst/>
            <a:gdLst/>
            <a:ahLst/>
            <a:cxnLst/>
            <a:rect r="r" b="b" t="t" l="l"/>
            <a:pathLst>
              <a:path h="768682" w="14825587">
                <a:moveTo>
                  <a:pt x="0" y="0"/>
                </a:moveTo>
                <a:lnTo>
                  <a:pt x="14825587" y="0"/>
                </a:lnTo>
                <a:lnTo>
                  <a:pt x="14825587" y="768682"/>
                </a:lnTo>
              </a:path>
            </a:pathLst>
          </a:cu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>
            <a:off x="6256126" y="0"/>
            <a:ext cx="12031874" cy="770369"/>
          </a:xfrm>
          <a:custGeom>
            <a:avLst/>
            <a:gdLst/>
            <a:ahLst/>
            <a:cxnLst/>
            <a:rect r="r" b="b" t="t" l="l"/>
            <a:pathLst>
              <a:path h="770369" w="12031874">
                <a:moveTo>
                  <a:pt x="0" y="0"/>
                </a:moveTo>
                <a:lnTo>
                  <a:pt x="0" y="770369"/>
                </a:lnTo>
                <a:lnTo>
                  <a:pt x="12031874" y="770369"/>
                </a:lnTo>
              </a:path>
            </a:pathLst>
          </a:cu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824284" y="2008815"/>
            <a:ext cx="10084268" cy="925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0"/>
              </a:lnSpc>
            </a:pPr>
            <a:r>
              <a:rPr lang="en-US" sz="7598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Resource Mapping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61780" y="4382388"/>
            <a:ext cx="9793107" cy="2439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01"/>
              </a:lnSpc>
            </a:pPr>
            <a:r>
              <a:rPr lang="en-US" sz="2910" b="true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Resource Mapping</a:t>
            </a:r>
            <a:r>
              <a:rPr lang="en-US" sz="291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 = memetakan sumber daya yang dimiliki startup. </a:t>
            </a:r>
          </a:p>
          <a:p>
            <a:pPr algn="just">
              <a:lnSpc>
                <a:spcPts val="3201"/>
              </a:lnSpc>
            </a:pPr>
          </a:p>
          <a:p>
            <a:pPr algn="just">
              <a:lnSpc>
                <a:spcPts val="3201"/>
              </a:lnSpc>
            </a:pPr>
            <a:r>
              <a:rPr lang="en-US" sz="2910" b="true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Pertanyaan penting:</a:t>
            </a:r>
          </a:p>
          <a:p>
            <a:pPr algn="just">
              <a:lnSpc>
                <a:spcPts val="3201"/>
              </a:lnSpc>
            </a:pPr>
          </a:p>
          <a:p>
            <a:pPr algn="just">
              <a:lnSpc>
                <a:spcPts val="3201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824284" y="6320479"/>
            <a:ext cx="9830603" cy="1124737"/>
            <a:chOff x="0" y="0"/>
            <a:chExt cx="2313188" cy="2646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13188" cy="264656"/>
            </a:xfrm>
            <a:custGeom>
              <a:avLst/>
              <a:gdLst/>
              <a:ahLst/>
              <a:cxnLst/>
              <a:rect r="r" b="b" t="t" l="l"/>
              <a:pathLst>
                <a:path h="264656" w="2313188">
                  <a:moveTo>
                    <a:pt x="0" y="0"/>
                  </a:moveTo>
                  <a:lnTo>
                    <a:pt x="2313188" y="0"/>
                  </a:lnTo>
                  <a:lnTo>
                    <a:pt x="2313188" y="264656"/>
                  </a:lnTo>
                  <a:lnTo>
                    <a:pt x="0" y="264656"/>
                  </a:lnTo>
                  <a:close/>
                </a:path>
              </a:pathLst>
            </a:custGeom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313188" cy="2932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860"/>
                </a:lnSpc>
              </a:pPr>
            </a:p>
            <a:p>
              <a:pPr algn="l">
                <a:lnSpc>
                  <a:spcPts val="286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204331" y="6633048"/>
            <a:ext cx="9224914" cy="694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2"/>
              </a:lnSpc>
              <a:spcBef>
                <a:spcPct val="0"/>
              </a:spcBef>
            </a:pPr>
            <a:r>
              <a:rPr lang="en-US" b="true" sz="2456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“Apa yang kita punya sekarang dan apa yang masih kurang?”</a:t>
            </a:r>
          </a:p>
          <a:p>
            <a:pPr algn="just">
              <a:lnSpc>
                <a:spcPts val="2702"/>
              </a:lnSpc>
              <a:spcBef>
                <a:spcPct val="0"/>
              </a:spcBef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12077986" y="3989438"/>
            <a:ext cx="4823149" cy="4900717"/>
            <a:chOff x="0" y="0"/>
            <a:chExt cx="6430865" cy="6534290"/>
          </a:xfrm>
        </p:grpSpPr>
        <p:pic>
          <p:nvPicPr>
            <p:cNvPr name="Picture 13" id="13"/>
            <p:cNvPicPr>
              <a:picLocks noChangeAspect="true"/>
            </p:cNvPicPr>
            <p:nvPr/>
          </p:nvPicPr>
          <p:blipFill>
            <a:blip r:embed="rId3"/>
            <a:srcRect l="0" t="11896" r="0" b="11896"/>
            <a:stretch>
              <a:fillRect/>
            </a:stretch>
          </p:blipFill>
          <p:spPr>
            <a:xfrm flipH="false" flipV="false">
              <a:off x="0" y="0"/>
              <a:ext cx="6430865" cy="653429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881434" y="3280006"/>
            <a:ext cx="14572757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>
            <a:off x="0" y="9518318"/>
            <a:ext cx="14825587" cy="768682"/>
          </a:xfrm>
          <a:custGeom>
            <a:avLst/>
            <a:gdLst/>
            <a:ahLst/>
            <a:cxnLst/>
            <a:rect r="r" b="b" t="t" l="l"/>
            <a:pathLst>
              <a:path h="768682" w="14825587">
                <a:moveTo>
                  <a:pt x="0" y="0"/>
                </a:moveTo>
                <a:lnTo>
                  <a:pt x="14825587" y="0"/>
                </a:lnTo>
                <a:lnTo>
                  <a:pt x="14825587" y="768682"/>
                </a:lnTo>
              </a:path>
            </a:pathLst>
          </a:cu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>
            <a:off x="6256126" y="0"/>
            <a:ext cx="12031874" cy="770369"/>
          </a:xfrm>
          <a:custGeom>
            <a:avLst/>
            <a:gdLst/>
            <a:ahLst/>
            <a:cxnLst/>
            <a:rect r="r" b="b" t="t" l="l"/>
            <a:pathLst>
              <a:path h="770369" w="12031874">
                <a:moveTo>
                  <a:pt x="0" y="0"/>
                </a:moveTo>
                <a:lnTo>
                  <a:pt x="0" y="770369"/>
                </a:lnTo>
                <a:lnTo>
                  <a:pt x="12031874" y="770369"/>
                </a:lnTo>
              </a:path>
            </a:pathLst>
          </a:cu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919069" y="4155198"/>
            <a:ext cx="11965108" cy="72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0"/>
              </a:lnSpc>
              <a:spcBef>
                <a:spcPct val="0"/>
              </a:spcBef>
            </a:pPr>
            <a:r>
              <a:rPr lang="en-US" b="true" sz="2600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Setelah tahu kemampuan tim, baru lihat</a:t>
            </a:r>
          </a:p>
          <a:p>
            <a:pPr algn="l">
              <a:lnSpc>
                <a:spcPts val="286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919069" y="6107086"/>
            <a:ext cx="14970970" cy="1814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0"/>
              </a:lnSpc>
            </a:pPr>
            <a:r>
              <a:rPr lang="en-US" sz="26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Cari irisan antara:</a:t>
            </a:r>
          </a:p>
          <a:p>
            <a:pPr algn="l">
              <a:lnSpc>
                <a:spcPts val="2860"/>
              </a:lnSpc>
            </a:pPr>
          </a:p>
          <a:p>
            <a:pPr algn="l">
              <a:lnSpc>
                <a:spcPts val="2860"/>
              </a:lnSpc>
            </a:pPr>
            <a:r>
              <a:rPr lang="en-US" sz="2600" b="true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Capability × Market Opportunity × Purpose</a:t>
            </a:r>
          </a:p>
          <a:p>
            <a:pPr algn="l">
              <a:lnSpc>
                <a:spcPts val="2860"/>
              </a:lnSpc>
              <a:spcBef>
                <a:spcPct val="0"/>
              </a:spcBef>
            </a:pPr>
          </a:p>
          <a:p>
            <a:pPr algn="l">
              <a:lnSpc>
                <a:spcPts val="2860"/>
              </a:lnSpc>
              <a:spcBef>
                <a:spcPct val="0"/>
              </a:spcBef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1734826" y="3737930"/>
            <a:ext cx="4298702" cy="3983932"/>
            <a:chOff x="0" y="0"/>
            <a:chExt cx="5731603" cy="5311909"/>
          </a:xfrm>
        </p:grpSpPr>
        <p:pic>
          <p:nvPicPr>
            <p:cNvPr name="Picture 9" id="9"/>
            <p:cNvPicPr>
              <a:picLocks noChangeAspect="true"/>
            </p:cNvPicPr>
            <p:nvPr/>
          </p:nvPicPr>
          <p:blipFill>
            <a:blip r:embed="rId3"/>
            <a:srcRect l="0" t="580" r="0" b="580"/>
            <a:stretch>
              <a:fillRect/>
            </a:stretch>
          </p:blipFill>
          <p:spPr>
            <a:xfrm flipH="false" flipV="false">
              <a:off x="0" y="0"/>
              <a:ext cx="5731603" cy="5311909"/>
            </a:xfrm>
            <a:prstGeom prst="rect">
              <a:avLst/>
            </a:prstGeom>
          </p:spPr>
        </p:pic>
      </p:grpSp>
      <p:sp>
        <p:nvSpPr>
          <p:cNvPr name="TextBox 10" id="10"/>
          <p:cNvSpPr txBox="true"/>
          <p:nvPr/>
        </p:nvSpPr>
        <p:spPr>
          <a:xfrm rot="0">
            <a:off x="1824284" y="1977439"/>
            <a:ext cx="10084268" cy="928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0"/>
              </a:lnSpc>
            </a:pPr>
            <a:r>
              <a:rPr lang="en-US" sz="7598" b="true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Market Opportunity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19069" y="4741545"/>
            <a:ext cx="4702016" cy="392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“Market apa yang bisa kita layani?“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19069" y="5352705"/>
            <a:ext cx="6079490" cy="72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Jangan hanya mencari market yang besar.</a:t>
            </a:r>
          </a:p>
          <a:p>
            <a:pPr algn="ctr">
              <a:lnSpc>
                <a:spcPts val="26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86196" y="4232261"/>
            <a:ext cx="8749384" cy="785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60"/>
              </a:lnSpc>
            </a:pPr>
            <a:r>
              <a:rPr lang="en-US" sz="26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Ini istilah penting dalam business/finance.</a:t>
            </a:r>
          </a:p>
          <a:p>
            <a:pPr algn="just">
              <a:lnSpc>
                <a:spcPts val="286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829046" y="2624801"/>
            <a:ext cx="8749384" cy="1761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0"/>
              </a:lnSpc>
            </a:pPr>
            <a:r>
              <a:rPr lang="en-US" sz="7598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TAM, SAM, SOM</a:t>
            </a:r>
          </a:p>
          <a:p>
            <a:pPr algn="l">
              <a:lnSpc>
                <a:spcPts val="6610"/>
              </a:lnSpc>
            </a:pPr>
          </a:p>
        </p:txBody>
      </p:sp>
      <p:sp>
        <p:nvSpPr>
          <p:cNvPr name="AutoShape 5" id="5"/>
          <p:cNvSpPr/>
          <p:nvPr/>
        </p:nvSpPr>
        <p:spPr>
          <a:xfrm>
            <a:off x="1886196" y="3940509"/>
            <a:ext cx="874938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>
            <a:off x="0" y="9518318"/>
            <a:ext cx="14825587" cy="768682"/>
          </a:xfrm>
          <a:custGeom>
            <a:avLst/>
            <a:gdLst/>
            <a:ahLst/>
            <a:cxnLst/>
            <a:rect r="r" b="b" t="t" l="l"/>
            <a:pathLst>
              <a:path h="768682" w="14825587">
                <a:moveTo>
                  <a:pt x="0" y="0"/>
                </a:moveTo>
                <a:lnTo>
                  <a:pt x="14825587" y="0"/>
                </a:lnTo>
                <a:lnTo>
                  <a:pt x="14825587" y="768682"/>
                </a:lnTo>
              </a:path>
            </a:pathLst>
          </a:cu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>
            <a:off x="6256126" y="0"/>
            <a:ext cx="12031874" cy="770369"/>
          </a:xfrm>
          <a:custGeom>
            <a:avLst/>
            <a:gdLst/>
            <a:ahLst/>
            <a:cxnLst/>
            <a:rect r="r" b="b" t="t" l="l"/>
            <a:pathLst>
              <a:path h="770369" w="12031874">
                <a:moveTo>
                  <a:pt x="0" y="0"/>
                </a:moveTo>
                <a:lnTo>
                  <a:pt x="0" y="770369"/>
                </a:lnTo>
                <a:lnTo>
                  <a:pt x="12031874" y="770369"/>
                </a:lnTo>
              </a:path>
            </a:pathLst>
          </a:cu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886196" y="5017756"/>
            <a:ext cx="4583309" cy="3084303"/>
            <a:chOff x="0" y="0"/>
            <a:chExt cx="1207127" cy="81232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07127" cy="812327"/>
            </a:xfrm>
            <a:custGeom>
              <a:avLst/>
              <a:gdLst/>
              <a:ahLst/>
              <a:cxnLst/>
              <a:rect r="r" b="b" t="t" l="l"/>
              <a:pathLst>
                <a:path h="812327" w="1207127">
                  <a:moveTo>
                    <a:pt x="0" y="0"/>
                  </a:moveTo>
                  <a:lnTo>
                    <a:pt x="1207127" y="0"/>
                  </a:lnTo>
                  <a:lnTo>
                    <a:pt x="1207127" y="812327"/>
                  </a:lnTo>
                  <a:lnTo>
                    <a:pt x="0" y="812327"/>
                  </a:lnTo>
                  <a:close/>
                </a:path>
              </a:pathLst>
            </a:custGeom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207127" cy="8409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771563" y="5172075"/>
            <a:ext cx="713422" cy="72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0"/>
              </a:lnSpc>
              <a:spcBef>
                <a:spcPct val="0"/>
              </a:spcBef>
            </a:pPr>
            <a:r>
              <a:rPr lang="en-US" b="true" sz="2600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TAM</a:t>
            </a:r>
          </a:p>
          <a:p>
            <a:pPr algn="ctr">
              <a:lnSpc>
                <a:spcPts val="286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091816" y="5928995"/>
            <a:ext cx="4150929" cy="1452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6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Total pasar yang secara teori bisa dilayani oleh produk kita</a:t>
            </a:r>
          </a:p>
          <a:p>
            <a:pPr algn="just">
              <a:lnSpc>
                <a:spcPts val="2860"/>
              </a:lnSpc>
              <a:spcBef>
                <a:spcPct val="0"/>
              </a:spcBef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6852345" y="5017756"/>
            <a:ext cx="4583309" cy="3034633"/>
            <a:chOff x="0" y="0"/>
            <a:chExt cx="1207127" cy="79924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07127" cy="799245"/>
            </a:xfrm>
            <a:custGeom>
              <a:avLst/>
              <a:gdLst/>
              <a:ahLst/>
              <a:cxnLst/>
              <a:rect r="r" b="b" t="t" l="l"/>
              <a:pathLst>
                <a:path h="799245" w="1207127">
                  <a:moveTo>
                    <a:pt x="0" y="0"/>
                  </a:moveTo>
                  <a:lnTo>
                    <a:pt x="1207127" y="0"/>
                  </a:lnTo>
                  <a:lnTo>
                    <a:pt x="1207127" y="799245"/>
                  </a:lnTo>
                  <a:lnTo>
                    <a:pt x="0" y="799245"/>
                  </a:lnTo>
                  <a:close/>
                </a:path>
              </a:pathLst>
            </a:custGeom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207127" cy="827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7110889" y="5909945"/>
            <a:ext cx="4199572" cy="1814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Bagian dari TAM yang secara realistis bisa kita layani berdasarkan model bisnis/geografi/produk kita.</a:t>
            </a:r>
          </a:p>
          <a:p>
            <a:pPr algn="l">
              <a:lnSpc>
                <a:spcPts val="2860"/>
              </a:lnSpc>
              <a:spcBef>
                <a:spcPct val="0"/>
              </a:spcBef>
            </a:pPr>
          </a:p>
        </p:txBody>
      </p:sp>
      <p:grpSp>
        <p:nvGrpSpPr>
          <p:cNvPr name="Group 17" id="17"/>
          <p:cNvGrpSpPr/>
          <p:nvPr/>
        </p:nvGrpSpPr>
        <p:grpSpPr>
          <a:xfrm rot="0">
            <a:off x="11805106" y="5017756"/>
            <a:ext cx="4583309" cy="3026568"/>
            <a:chOff x="0" y="0"/>
            <a:chExt cx="1207127" cy="79712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07127" cy="797121"/>
            </a:xfrm>
            <a:custGeom>
              <a:avLst/>
              <a:gdLst/>
              <a:ahLst/>
              <a:cxnLst/>
              <a:rect r="r" b="b" t="t" l="l"/>
              <a:pathLst>
                <a:path h="797121" w="1207127">
                  <a:moveTo>
                    <a:pt x="0" y="0"/>
                  </a:moveTo>
                  <a:lnTo>
                    <a:pt x="1207127" y="0"/>
                  </a:lnTo>
                  <a:lnTo>
                    <a:pt x="1207127" y="797121"/>
                  </a:lnTo>
                  <a:lnTo>
                    <a:pt x="0" y="797121"/>
                  </a:lnTo>
                  <a:close/>
                </a:path>
              </a:pathLst>
            </a:custGeom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207127" cy="825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3807380" y="5172075"/>
            <a:ext cx="769461" cy="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0"/>
              </a:lnSpc>
              <a:spcBef>
                <a:spcPct val="0"/>
              </a:spcBef>
            </a:pPr>
            <a:r>
              <a:rPr lang="en-US" b="true" sz="2600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SOM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21296" y="5928995"/>
            <a:ext cx="4150929" cy="1814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6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Bagian pasa</a:t>
            </a:r>
            <a:r>
              <a:rPr lang="en-US" sz="26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r yang realistis bisa kita dapatkan dalam kondisi nyata.</a:t>
            </a:r>
          </a:p>
          <a:p>
            <a:pPr algn="just">
              <a:lnSpc>
                <a:spcPts val="2860"/>
              </a:lnSpc>
              <a:spcBef>
                <a:spcPct val="0"/>
              </a:spcBef>
            </a:pPr>
          </a:p>
          <a:p>
            <a:pPr algn="just">
              <a:lnSpc>
                <a:spcPts val="2860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8728118" y="5172075"/>
            <a:ext cx="743109" cy="72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0"/>
              </a:lnSpc>
              <a:spcBef>
                <a:spcPct val="0"/>
              </a:spcBef>
            </a:pPr>
            <a:r>
              <a:rPr lang="en-US" b="true" sz="2600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SAM</a:t>
            </a:r>
          </a:p>
          <a:p>
            <a:pPr algn="ctr">
              <a:lnSpc>
                <a:spcPts val="28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81434" y="4211869"/>
            <a:ext cx="14376143" cy="72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40"/>
              </a:lnSpc>
            </a:pPr>
            <a:r>
              <a:rPr lang="en-US" b="true" sz="240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Karena itu, Team harus muncul dengan di pitch deck (Presentasi Bisnis Untuk investor / Stakeholder)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24284" y="2297761"/>
            <a:ext cx="13289211" cy="1761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0"/>
              </a:lnSpc>
            </a:pPr>
            <a:r>
              <a:rPr lang="en-US" sz="7598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Team di Pitch Desk</a:t>
            </a:r>
          </a:p>
          <a:p>
            <a:pPr algn="l">
              <a:lnSpc>
                <a:spcPts val="6610"/>
              </a:lnSpc>
            </a:pPr>
          </a:p>
        </p:txBody>
      </p:sp>
      <p:sp>
        <p:nvSpPr>
          <p:cNvPr name="AutoShape 5" id="5"/>
          <p:cNvSpPr/>
          <p:nvPr/>
        </p:nvSpPr>
        <p:spPr>
          <a:xfrm>
            <a:off x="1881434" y="3691025"/>
            <a:ext cx="14572757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>
            <a:off x="0" y="9518318"/>
            <a:ext cx="14825587" cy="768682"/>
          </a:xfrm>
          <a:custGeom>
            <a:avLst/>
            <a:gdLst/>
            <a:ahLst/>
            <a:cxnLst/>
            <a:rect r="r" b="b" t="t" l="l"/>
            <a:pathLst>
              <a:path h="768682" w="14825587">
                <a:moveTo>
                  <a:pt x="0" y="0"/>
                </a:moveTo>
                <a:lnTo>
                  <a:pt x="14825587" y="0"/>
                </a:lnTo>
                <a:lnTo>
                  <a:pt x="14825587" y="768682"/>
                </a:lnTo>
              </a:path>
            </a:pathLst>
          </a:cu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>
            <a:off x="6256126" y="0"/>
            <a:ext cx="12031874" cy="770369"/>
          </a:xfrm>
          <a:custGeom>
            <a:avLst/>
            <a:gdLst/>
            <a:ahLst/>
            <a:cxnLst/>
            <a:rect r="r" b="b" t="t" l="l"/>
            <a:pathLst>
              <a:path h="770369" w="12031874">
                <a:moveTo>
                  <a:pt x="0" y="0"/>
                </a:moveTo>
                <a:lnTo>
                  <a:pt x="0" y="770369"/>
                </a:lnTo>
                <a:lnTo>
                  <a:pt x="12031874" y="770369"/>
                </a:lnTo>
              </a:path>
            </a:pathLst>
          </a:cu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881434" y="5090074"/>
            <a:ext cx="2075974" cy="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Jangan hanya: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81434" y="5608869"/>
            <a:ext cx="4374692" cy="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0"/>
              </a:lnSpc>
              <a:spcBef>
                <a:spcPct val="0"/>
              </a:spcBef>
            </a:pPr>
            <a:r>
              <a:rPr lang="en-US" b="true" sz="2600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Gibran : CTO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81434" y="6184814"/>
            <a:ext cx="4377531" cy="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Tetapi lebih baik menunjukkan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81434" y="6703609"/>
            <a:ext cx="4829175" cy="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0"/>
              </a:lnSpc>
              <a:spcBef>
                <a:spcPct val="0"/>
              </a:spcBef>
            </a:pPr>
            <a:r>
              <a:rPr lang="en-US" b="true" sz="2600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Gibran : Product &amp; Technology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81434" y="7289079"/>
            <a:ext cx="5694500" cy="72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Sehingga investor bisa memahami:</a:t>
            </a:r>
          </a:p>
          <a:p>
            <a:pPr algn="l">
              <a:lnSpc>
                <a:spcPts val="286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881434" y="7858710"/>
            <a:ext cx="8576749" cy="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0"/>
              </a:lnSpc>
              <a:spcBef>
                <a:spcPct val="0"/>
              </a:spcBef>
            </a:pPr>
            <a:r>
              <a:rPr lang="en-US" b="true" sz="2600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“Orang ini membawa capability apa ke startup?”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81434" y="8434655"/>
            <a:ext cx="12166712" cy="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Kemudian lakukan competency gap analysis (analisis kekurangan kompetensi).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52776" y="3653280"/>
            <a:ext cx="12864827" cy="1772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14804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Te</a:t>
            </a:r>
            <a:r>
              <a:rPr lang="en-US" sz="14804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rima Kasih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1152776" y="1234440"/>
            <a:ext cx="1337947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3356209" y="9019223"/>
            <a:ext cx="3903091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DAHVflD1YEM</dc:identifier>
  <dcterms:modified xsi:type="dcterms:W3CDTF">2011-08-01T06:04:30Z</dcterms:modified>
  <cp:revision>1</cp:revision>
  <dc:title>Salinan dari Kreatif 2026</dc:title>
</cp:coreProperties>
</file>